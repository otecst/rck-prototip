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карточка проекта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80 (uzkie_mesta, 2026-09-06T18:32:22)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79 (potok_calc, 2026-09-06T18:32:22)</a:t>
            </a:r>
          </a:p>
          <a:p>
            <a:r>
              <a:t>источник: прогон № 84 (oee, 2026-09-06T18:32:23)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81 (simulation, 2026-09-06T18:32:22)</a:t>
            </a:r>
          </a:p>
          <a:p>
            <a:r>
              <a:t>источник: прогон № 82 (simulation, 2026-09-06T18:32:23)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85 (meropriyatiya, 2026-09-06T18:32:23)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83 (ee, 2026-09-06T18:32:23)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86 (smart, 2026-09-06T18:32:23)</a:t>
            </a:r>
          </a:p>
          <a:p>
            <a:r>
              <a:t>источник: прогон № 87 (protokol, 2026-09-06T18:32:24)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80 (uzkie_mesta, 2026-09-06T18:32:22)</a:t>
            </a:r>
          </a:p>
          <a:p>
            <a:r>
              <a:t>источник: прогон № 79 (potok_calc, 2026-09-06T18:32:22)</a:t>
            </a:r>
          </a:p>
          <a:p>
            <a:r>
              <a:t>источник: прогон № 84 (oee, 2026-09-06T18:32:23)</a:t>
            </a:r>
          </a:p>
          <a:p>
            <a:r>
              <a:t>источник: прогон № 81 (simulation, 2026-09-06T18:32:22)</a:t>
            </a:r>
          </a:p>
          <a:p>
            <a:r>
              <a:t>источник: прогон № 82 (simulation, 2026-09-06T18:32:23)</a:t>
            </a:r>
          </a:p>
          <a:p>
            <a:r>
              <a:t>источник: прогон № 85 (meropriyatiya, 2026-09-06T18:32:23)</a:t>
            </a:r>
          </a:p>
          <a:p>
            <a:r>
              <a:t>источник: прогон № 83 (ee, 2026-09-06T18:32:23)</a:t>
            </a:r>
          </a:p>
          <a:p>
            <a:r>
              <a:t>источник: прогон № 86 (smart, 2026-09-06T18:32:23)</a:t>
            </a:r>
          </a:p>
          <a:p>
            <a:r>
              <a:t>источник: прогон № 87 (protokol, 2026-09-06T18:32:24)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BFB2"/>
                </a:solidFill>
                <a:latin typeface="Calibri"/>
              </a:rPr>
              <a:t>ПИЛОТНЫЙ ПРОЕКТ · РЦК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7F4EF"/>
                </a:solidFill>
                <a:latin typeface="Calibri"/>
              </a:rPr>
              <a:t>Приёмка-0609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96A43"/>
                </a:solidFill>
                <a:latin typeface="Calibri"/>
              </a:rPr>
              <a:t>Поток: Поток приёмки 0609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BFB2"/>
                </a:solidFill>
                <a:latin typeface="Calibri"/>
              </a:rPr>
              <a:t>РЦК · 2026-09-06T18:32:22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7656" cy="1371600"/>
          </a:xfrm>
          <a:prstGeom prst="rect">
            <a:avLst/>
          </a:prstGeom>
          <a:solidFill>
            <a:srgbClr val="A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8632" y="5750560"/>
            <a:ext cx="1057656" cy="558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94304" y="5953760"/>
            <a:ext cx="1057656" cy="3556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5968576"/>
            <a:ext cx="1057656" cy="340783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65648" y="6055360"/>
            <a:ext cx="1057656" cy="2540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51320" y="6087110"/>
            <a:ext cx="1057656" cy="22225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6122670"/>
            <a:ext cx="1057656" cy="18669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22664" y="6131560"/>
            <a:ext cx="1057656" cy="177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08336" y="6199632"/>
            <a:ext cx="1057656" cy="109728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9184"/>
                </a:solidFill>
                <a:latin typeface="Calibri"/>
              </a:rPr>
              <a:t>каналы потока: высота столбца — время операции в потоке, красный — главное узкое место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Проблема: узкое место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8433A"/>
                </a:solidFill>
                <a:latin typeface="Calibri"/>
              </a:rPr>
              <a:t>Процесс фасовки на одном выбойном аппарате (фасовка в 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Главное узкое место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A8433A"/>
                </a:solidFill>
                <a:latin typeface="Calibri"/>
              </a:rPr>
              <a:t>38,68 %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Доля во ВПП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4E7A51"/>
                </a:solidFill>
                <a:latin typeface="Calibri"/>
              </a:rPr>
              <a:t>подтверждено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Статус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Операций в разборе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Ранжирование узких мест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0879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1.  Процесс фасовки на одном выбойном аппарате (фасовка в мешок 30 кг)</a:t>
            </a:r>
          </a:p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2.  Процесс грануляции (накопительный бункер пресов → подача ПФ в СКТ → термообработка → КДВ → грануляция → охлаждение → измельчение → просеивание → взвешивание)</a:t>
            </a:r>
          </a:p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3.  Процесс дозирования (дозирование растительного сырья → дробление → смешивание сырья)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Показатели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Такт, мин/шт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7 004,19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4,19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Время цикла ΣТц,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48,00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Выработка, шт/чел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08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Узкое место по расчёту: «Оп2» (Тц 1,50 мин)</a:t>
            </a:r>
          </a:p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Потенциал сокращения ВПП: до 7 000,00 мин</a:t>
            </a:r>
          </a:p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Операторов по норме: 2,09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OEE оборудования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0,704167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OEE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0,777083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Доступность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0,938338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Производительность 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7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0,965714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Качество 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СЦЕНАРНЫЙ ПРОГОН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Симуляция «что если»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F5E9E0"/>
          </a:solidFill>
          <a:ln w="12700">
            <a:solidFill>
              <a:srgbClr val="B45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62F"/>
                </a:solidFill>
                <a:latin typeface="Calibri"/>
              </a:rPr>
              <a:t>Узкое место переехало: «Оп2» → «Оп3»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Выпуск за горизонт, шт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2578608"/>
            <a:ext cx="4706112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2834639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257860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193 → 210  (+17)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291840"/>
            <a:ext cx="4588625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3547872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2918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13,80 → 15,40  (+1,60)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НЗП среднее, шт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4005072"/>
            <a:ext cx="4356365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4261104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400507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5,7 → 6,7  (+1,0)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4573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серая полоса — «до», терракота — «после»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Модельный прогноз, не замер.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ПЛАН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Мероприятия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Мероприятий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 / 3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Класс A / B /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21,00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Σ ΔВПП, п.п.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0,00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Σ ΔЭЭ, руб/год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Приоритетные мероприятия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087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1. Анализ эффективности оборудования (OEE) — 2026-09-06 — 2026-09-20, ВПП 36,7 % (−2,0 п.п.), ΔЭЭ не посчитан, класс A</a:t>
            </a:r>
          </a:p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2. Учёт простоёв в журнале + почасовой ПА (ручной старт) — 2026-09-06 — 2026-09-20, ВПП 37,7 % (−1,0 п.п.), ΔЭЭ не посчитан, класс A</a:t>
            </a:r>
          </a:p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3. Визуальное управление — 2026-09-06 — 2026-09-20, ВПП 37,45 % (−1,25 п.п.), ΔЭЭ не посчитан, класс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Узкое место: участок «фасовка», ВПП 38,7 %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ЭФФЕКТ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Экономический эффект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Реальный ЭЭ, руб/год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B4562F"/>
                </a:solidFill>
                <a:latin typeface="Calibri"/>
              </a:rPr>
              <a:t>23 757 960,67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Потенциальный ЭЭ, руб/год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0,00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Высвобождение ДС, руб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0,00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61642"/>
            <a:ext cx="2606040" cy="24846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52623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Налоги за 3 года, руб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83434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20 559 417,72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•  контекст прогона расходится с карточкой проекта — цифры относятся к входу прогона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Суммы — из прогона ЭЭ-калькулятора, без пересчёта.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ЦЕЛИ И ХОД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План и статус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Цели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•  Выработка · 10,00 → 12,00 шт/чел · срок: 2026-12-31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828800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Статус по протоколу закрытия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40280"/>
            <a:ext cx="39136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7" y="2441448"/>
            <a:ext cx="3694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22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7" y="3172968"/>
            <a:ext cx="36941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баллов из порога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749039"/>
            <a:ext cx="3913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620"/>
                </a:solidFill>
                <a:latin typeface="Calibri"/>
              </a:rPr>
              <a:t>порог пройден — целевой уровень достигнут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F4EF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Главное узкое место потока — «Процесс фасовки на одном выбойном аппарате (фасовка в мешок 30 кг)», доля во времени производственного потока — 38,68 %.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Показатели потока: такт 2 мин/шт, время производственного потока 7 004,19 мин.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Сценарный прогон: выпуск 193 → 210 шт (17 шт; модельный прогноз, не замер).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План: 10 мероприятий, суммарный ожидаемый эффект 0 руб/год.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Экономический эффект проекта — 23 757 960,67 руб/год.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96A43"/>
                </a:solidFill>
                <a:latin typeface="Calibri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